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4" r:id="rId3"/>
    <p:sldMasterId id="2147483685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144000"/>
  <p:notesSz cx="6797675" cy="98742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:notes"/>
          <p:cNvSpPr txBox="1"/>
          <p:nvPr>
            <p:ph idx="1" type="body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:notes"/>
          <p:cNvSpPr txBox="1"/>
          <p:nvPr>
            <p:ph idx="1" type="body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:notes"/>
          <p:cNvSpPr txBox="1"/>
          <p:nvPr>
            <p:ph idx="1" type="body"/>
          </p:nvPr>
        </p:nvSpPr>
        <p:spPr>
          <a:xfrm>
            <a:off x="702000" y="4416480"/>
            <a:ext cx="5606640" cy="4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:notes"/>
          <p:cNvSpPr/>
          <p:nvPr/>
        </p:nvSpPr>
        <p:spPr>
          <a:xfrm>
            <a:off x="3970080" y="8829720"/>
            <a:ext cx="3036960" cy="46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:notes"/>
          <p:cNvSpPr txBox="1"/>
          <p:nvPr>
            <p:ph idx="1" type="body"/>
          </p:nvPr>
        </p:nvSpPr>
        <p:spPr>
          <a:xfrm>
            <a:off x="702000" y="4416480"/>
            <a:ext cx="5606640" cy="4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:notes"/>
          <p:cNvSpPr/>
          <p:nvPr/>
        </p:nvSpPr>
        <p:spPr>
          <a:xfrm>
            <a:off x="3970080" y="8829720"/>
            <a:ext cx="3036960" cy="46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 txBox="1"/>
          <p:nvPr>
            <p:ph idx="1" type="body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680400" y="4690800"/>
            <a:ext cx="5436360" cy="44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:notes"/>
          <p:cNvSpPr/>
          <p:nvPr/>
        </p:nvSpPr>
        <p:spPr>
          <a:xfrm>
            <a:off x="3849840" y="9378360"/>
            <a:ext cx="2944440" cy="4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0400" y="4690800"/>
            <a:ext cx="5436360" cy="44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:notes"/>
          <p:cNvSpPr/>
          <p:nvPr/>
        </p:nvSpPr>
        <p:spPr>
          <a:xfrm>
            <a:off x="3849840" y="9378360"/>
            <a:ext cx="2944440" cy="4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1133150" y="740550"/>
            <a:ext cx="4532000" cy="3702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3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4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2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2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3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4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2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9" name="Google Shape;11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2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3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5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6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6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8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8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4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9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9"/>
          <p:cNvSpPr txBox="1"/>
          <p:nvPr>
            <p:ph idx="2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7" name="Google Shape;177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3.xml"/><Relationship Id="rId10" Type="http://schemas.openxmlformats.org/officeDocument/2006/relationships/slideLayout" Target="../slideLayouts/slideLayout2.xml"/><Relationship Id="rId21" Type="http://schemas.openxmlformats.org/officeDocument/2006/relationships/theme" Target="../theme/theme4.xml"/><Relationship Id="rId13" Type="http://schemas.openxmlformats.org/officeDocument/2006/relationships/slideLayout" Target="../slideLayouts/slideLayout5.xml"/><Relationship Id="rId12" Type="http://schemas.openxmlformats.org/officeDocument/2006/relationships/slideLayout" Target="../slideLayouts/slideLayout4.xml"/><Relationship Id="rId1" Type="http://schemas.openxmlformats.org/officeDocument/2006/relationships/image" Target="../media/image7.png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slideLayout" Target="../slideLayouts/slideLayout1.xml"/><Relationship Id="rId15" Type="http://schemas.openxmlformats.org/officeDocument/2006/relationships/slideLayout" Target="../slideLayouts/slideLayout7.xml"/><Relationship Id="rId14" Type="http://schemas.openxmlformats.org/officeDocument/2006/relationships/slideLayout" Target="../slideLayouts/slideLayout6.xml"/><Relationship Id="rId17" Type="http://schemas.openxmlformats.org/officeDocument/2006/relationships/slideLayout" Target="../slideLayouts/slideLayout9.xml"/><Relationship Id="rId16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19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18" Type="http://schemas.openxmlformats.org/officeDocument/2006/relationships/slideLayout" Target="../slideLayouts/slideLayout10.xml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21" Type="http://schemas.openxmlformats.org/officeDocument/2006/relationships/theme" Target="../theme/theme3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" Type="http://schemas.openxmlformats.org/officeDocument/2006/relationships/image" Target="../media/image7.png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5" Type="http://schemas.openxmlformats.org/officeDocument/2006/relationships/image" Target="../media/image8.png"/><Relationship Id="rId19" Type="http://schemas.openxmlformats.org/officeDocument/2006/relationships/slideLayout" Target="../slideLayouts/slideLayout23.xml"/><Relationship Id="rId6" Type="http://schemas.openxmlformats.org/officeDocument/2006/relationships/image" Target="../media/image4.png"/><Relationship Id="rId18" Type="http://schemas.openxmlformats.org/officeDocument/2006/relationships/slideLayout" Target="../slideLayouts/slideLayout22.xml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image" Target="../media/image7.png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5" Type="http://schemas.openxmlformats.org/officeDocument/2006/relationships/image" Target="../media/image8.png"/><Relationship Id="rId19" Type="http://schemas.openxmlformats.org/officeDocument/2006/relationships/slideLayout" Target="../slideLayouts/slideLayout35.xml"/><Relationship Id="rId6" Type="http://schemas.openxmlformats.org/officeDocument/2006/relationships/image" Target="../media/image4.png"/><Relationship Id="rId18" Type="http://schemas.openxmlformats.org/officeDocument/2006/relationships/slideLayout" Target="../slideLayouts/slideLayout34.xml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35280"/>
            <a:ext cx="9142200" cy="69325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152280"/>
            <a:ext cx="1446120" cy="11984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9640" y="138600"/>
            <a:ext cx="866880" cy="9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2520" y="103320"/>
            <a:ext cx="1619280" cy="98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3600" y="106560"/>
            <a:ext cx="1618200" cy="986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3800" y="117000"/>
            <a:ext cx="1618200" cy="98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000" y="111960"/>
            <a:ext cx="1618200" cy="98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19320" y="102240"/>
            <a:ext cx="1618200" cy="98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30120" y="1600200"/>
            <a:ext cx="1598400" cy="5125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1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9"/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  <p:sldLayoutId id="2147483659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35280"/>
            <a:ext cx="9142200" cy="69325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0" y="152280"/>
            <a:ext cx="1446120" cy="154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9640" y="138600"/>
            <a:ext cx="866880" cy="9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2520" y="103320"/>
            <a:ext cx="1619280" cy="98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3600" y="106560"/>
            <a:ext cx="1618200" cy="986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3800" y="117000"/>
            <a:ext cx="1618200" cy="98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000" y="111960"/>
            <a:ext cx="1618200" cy="98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19320" y="102240"/>
            <a:ext cx="1618200" cy="98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30120" y="1600200"/>
            <a:ext cx="1598400" cy="5125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35280"/>
            <a:ext cx="9142200" cy="69325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7"/>
          <p:cNvSpPr/>
          <p:nvPr/>
        </p:nvSpPr>
        <p:spPr>
          <a:xfrm>
            <a:off x="0" y="152280"/>
            <a:ext cx="1446120" cy="154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9640" y="138600"/>
            <a:ext cx="866880" cy="9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2520" y="103320"/>
            <a:ext cx="1619280" cy="98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3600" y="106560"/>
            <a:ext cx="1618200" cy="986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3800" y="117000"/>
            <a:ext cx="1618200" cy="98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000" y="111960"/>
            <a:ext cx="1618200" cy="98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19320" y="102240"/>
            <a:ext cx="1618200" cy="98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30120" y="1600200"/>
            <a:ext cx="1598400" cy="5125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2" name="Google Shape;132;p2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0"/>
          <p:cNvSpPr/>
          <p:nvPr/>
        </p:nvSpPr>
        <p:spPr>
          <a:xfrm>
            <a:off x="411480" y="2734920"/>
            <a:ext cx="5897400" cy="11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rebuchet MS"/>
              <a:buNone/>
            </a:pPr>
            <a:r>
              <a:rPr b="0" i="0" lang="en-IN" sz="36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Mini-Project Progress Review 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0"/>
          <p:cNvSpPr/>
          <p:nvPr/>
        </p:nvSpPr>
        <p:spPr>
          <a:xfrm>
            <a:off x="411480" y="4262040"/>
            <a:ext cx="8456400" cy="13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Trebuchet MS"/>
              <a:buNone/>
            </a:pPr>
            <a:r>
              <a:rPr b="0" i="0" lang="en-IN" sz="20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  :  Helmet Detection of Bike Riders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Trebuchet MS"/>
              <a:buNone/>
            </a:pPr>
            <a:r>
              <a:rPr b="0" i="0" lang="en-IN" sz="20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	:  Prof. Sangeeta.V    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Trebuchet MS"/>
              <a:buNone/>
            </a:pPr>
            <a:r>
              <a:rPr b="0" i="0" lang="en-IN" sz="20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Trebuchet MS"/>
              <a:buNone/>
            </a:pPr>
            <a:r>
              <a:rPr b="0" i="0" lang="en-IN" sz="20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( Names &amp; USN) 	:  C.R.Greeshma Reddy (PES1201800196)</a:t>
            </a:r>
            <a:endParaRPr b="0" i="0" sz="20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Trebuchet MS"/>
              <a:buNone/>
            </a:pPr>
            <a:r>
              <a:rPr b="0" i="0" lang="en-IN" sz="2000" u="none" cap="none" strike="noStrike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                         Vulli Varsha (PES1201800376)</a:t>
            </a:r>
            <a:endParaRPr b="0" i="0" sz="20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1"/>
          <p:cNvSpPr/>
          <p:nvPr/>
        </p:nvSpPr>
        <p:spPr>
          <a:xfrm>
            <a:off x="1523880" y="1581120"/>
            <a:ext cx="7618320" cy="34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1"/>
          <p:cNvSpPr/>
          <p:nvPr/>
        </p:nvSpPr>
        <p:spPr>
          <a:xfrm>
            <a:off x="2666880" y="1143000"/>
            <a:ext cx="64753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1280" lvl="0" marL="34308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Abstract and Scope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1"/>
          <p:cNvSpPr/>
          <p:nvPr/>
        </p:nvSpPr>
        <p:spPr>
          <a:xfrm>
            <a:off x="885600" y="1808499"/>
            <a:ext cx="7372800" cy="37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342900" lvl="0" marL="457200" rtl="0" algn="just">
              <a:spcBef>
                <a:spcPts val="479"/>
              </a:spcBef>
              <a:spcAft>
                <a:spcPts val="0"/>
              </a:spcAft>
              <a:buSzPts val="1800"/>
              <a:buFont typeface="Trebuchet MS"/>
              <a:buChar char="●"/>
            </a:pPr>
            <a:r>
              <a:rPr b="1" lang="en-IN" sz="1800">
                <a:latin typeface="Trebuchet MS"/>
                <a:ea typeface="Trebuchet MS"/>
                <a:cs typeface="Trebuchet MS"/>
                <a:sym typeface="Trebuchet MS"/>
              </a:rPr>
              <a:t>Project is about detecting the helmets of bike riders using real time images or videos.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2"/>
          <p:cNvSpPr/>
          <p:nvPr/>
        </p:nvSpPr>
        <p:spPr>
          <a:xfrm>
            <a:off x="1523880" y="1581120"/>
            <a:ext cx="7618320" cy="34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2"/>
          <p:cNvSpPr/>
          <p:nvPr/>
        </p:nvSpPr>
        <p:spPr>
          <a:xfrm>
            <a:off x="380880" y="1752480"/>
            <a:ext cx="8075520" cy="47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●"/>
            </a:pPr>
            <a:r>
              <a:rPr lang="en-IN" sz="2400">
                <a:latin typeface="Trebuchet MS"/>
                <a:ea typeface="Trebuchet MS"/>
                <a:cs typeface="Trebuchet MS"/>
                <a:sym typeface="Trebuchet MS"/>
              </a:rPr>
              <a:t>As the accuracy for this project done by other persons was around 92%, so the panel members asked us to make sure that our model accuracy should be more that 92%.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Char char="●"/>
            </a:pPr>
            <a:r>
              <a:rPr lang="en-IN" sz="2400">
                <a:latin typeface="Trebuchet MS"/>
                <a:ea typeface="Trebuchet MS"/>
                <a:cs typeface="Trebuchet MS"/>
                <a:sym typeface="Trebuchet MS"/>
              </a:rPr>
              <a:t>Panel members also suggested to make sure the training images are not close to camera images.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9" name="Google Shape;199;p42"/>
          <p:cNvSpPr/>
          <p:nvPr/>
        </p:nvSpPr>
        <p:spPr>
          <a:xfrm>
            <a:off x="2666880" y="1143000"/>
            <a:ext cx="6475320" cy="4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0920" lvl="0" marL="34272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Suggestions from Review - 1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3"/>
          <p:cNvSpPr/>
          <p:nvPr/>
        </p:nvSpPr>
        <p:spPr>
          <a:xfrm>
            <a:off x="1523880" y="1581120"/>
            <a:ext cx="7618320" cy="34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3"/>
          <p:cNvSpPr/>
          <p:nvPr/>
        </p:nvSpPr>
        <p:spPr>
          <a:xfrm>
            <a:off x="380880" y="1143000"/>
            <a:ext cx="8761320" cy="4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0920" lvl="0" marL="34272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Detailed Literature Survey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3"/>
          <p:cNvSpPr/>
          <p:nvPr/>
        </p:nvSpPr>
        <p:spPr>
          <a:xfrm>
            <a:off x="457200" y="1752480"/>
            <a:ext cx="8227800" cy="4722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just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 went through 3 reference papers regarding Helmet Detection namely:</a:t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just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Detection of Motorcyclists without Helmet in Videos using Convolutional Neural Network by C. Vishnu, Dinesh Singh, C. Krishna Mohan and Sobhan Babu, IIT Hyderabad.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Detecting motorcycle helmet use with deep learning  by Felix Wilhelm Siebert, Hanhe Lin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 Improved YOLOv3 for Vehicle Detection by Jun Sang , Zhongyuan Wu, Pei Guo, Haibo Hu, Hong Xiang, Qian Zhang and Bin Cai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IN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From these papers we learned the following things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: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just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 found that Yolov3 model is best for training the dataset as it gives more accuracy compared to models like RetinaNet, R-CNN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AutoNum type="arabicPeriod"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Yolov3 model is CNN which is implemented with 24 convolution layers and 2 fully connected layers.</a:t>
            </a:r>
            <a:endParaRPr sz="24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4"/>
          <p:cNvSpPr/>
          <p:nvPr/>
        </p:nvSpPr>
        <p:spPr>
          <a:xfrm>
            <a:off x="1523880" y="1581120"/>
            <a:ext cx="7618320" cy="34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4"/>
          <p:cNvSpPr/>
          <p:nvPr/>
        </p:nvSpPr>
        <p:spPr>
          <a:xfrm>
            <a:off x="2666880" y="1143000"/>
            <a:ext cx="64753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1280" lvl="0" marL="34308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Design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56475"/>
            <a:ext cx="7471949" cy="267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5"/>
          <p:cNvSpPr/>
          <p:nvPr/>
        </p:nvSpPr>
        <p:spPr>
          <a:xfrm>
            <a:off x="1523880" y="1581120"/>
            <a:ext cx="7618320" cy="3492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5"/>
          <p:cNvSpPr/>
          <p:nvPr/>
        </p:nvSpPr>
        <p:spPr>
          <a:xfrm>
            <a:off x="1371600" y="1143000"/>
            <a:ext cx="7770600" cy="46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1280" lvl="0" marL="34308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Technologies Used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5"/>
          <p:cNvSpPr/>
          <p:nvPr/>
        </p:nvSpPr>
        <p:spPr>
          <a:xfrm>
            <a:off x="936000" y="2016000"/>
            <a:ext cx="6444360" cy="453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-IN" sz="1800">
                <a:latin typeface="Trebuchet MS"/>
                <a:ea typeface="Trebuchet MS"/>
                <a:cs typeface="Trebuchet MS"/>
                <a:sym typeface="Trebuchet MS"/>
              </a:rPr>
              <a:t>Python :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Trebuchet MS"/>
                <a:ea typeface="Trebuchet MS"/>
                <a:cs typeface="Trebuchet MS"/>
                <a:sym typeface="Trebuchet MS"/>
              </a:rPr>
              <a:t>We are using python programming language as it is not much complicate to execute.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Char char="●"/>
            </a:pPr>
            <a:r>
              <a:rPr b="1" lang="en-IN" sz="1800">
                <a:latin typeface="Trebuchet MS"/>
                <a:ea typeface="Trebuchet MS"/>
                <a:cs typeface="Trebuchet MS"/>
                <a:sym typeface="Trebuchet MS"/>
              </a:rPr>
              <a:t>OpenCv :</a:t>
            </a:r>
            <a:endParaRPr b="1"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Trebuchet MS"/>
                <a:ea typeface="Trebuchet MS"/>
                <a:cs typeface="Trebuchet MS"/>
                <a:sym typeface="Trebuchet MS"/>
              </a:rPr>
              <a:t>We are using OpenCv to detect the bike riders with helmets from a video and also used it to prepare a dataset.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Char char="●"/>
            </a:pPr>
            <a:r>
              <a:rPr lang="en-IN" sz="1800">
                <a:latin typeface="Trebuchet MS"/>
                <a:ea typeface="Trebuchet MS"/>
                <a:cs typeface="Trebuchet MS"/>
                <a:sym typeface="Trebuchet MS"/>
              </a:rPr>
              <a:t>YOLO V3 :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Trebuchet MS"/>
                <a:ea typeface="Trebuchet MS"/>
                <a:cs typeface="Trebuchet MS"/>
                <a:sym typeface="Trebuchet MS"/>
              </a:rPr>
              <a:t>We are using a pre trained YOLO V3 model to get weigths.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6"/>
          <p:cNvSpPr/>
          <p:nvPr/>
        </p:nvSpPr>
        <p:spPr>
          <a:xfrm>
            <a:off x="1523880" y="1581120"/>
            <a:ext cx="7618320" cy="3492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6"/>
          <p:cNvSpPr/>
          <p:nvPr/>
        </p:nvSpPr>
        <p:spPr>
          <a:xfrm>
            <a:off x="1371600" y="1143000"/>
            <a:ext cx="7770600" cy="46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1280" lvl="0" marL="34308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so far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6"/>
          <p:cNvSpPr/>
          <p:nvPr/>
        </p:nvSpPr>
        <p:spPr>
          <a:xfrm>
            <a:off x="518400" y="1828800"/>
            <a:ext cx="6861900" cy="3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We created the dataset from images from Google and trained using YOLO-V3 to get weights of the function.</a:t>
            </a:r>
            <a:endParaRPr b="1" sz="18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Tested the model with random images.</a:t>
            </a:r>
            <a:endParaRPr b="1" sz="18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Around 85-90% of the project is done.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7"/>
          <p:cNvSpPr/>
          <p:nvPr/>
        </p:nvSpPr>
        <p:spPr>
          <a:xfrm>
            <a:off x="2847600" y="3352680"/>
            <a:ext cx="2922120" cy="70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