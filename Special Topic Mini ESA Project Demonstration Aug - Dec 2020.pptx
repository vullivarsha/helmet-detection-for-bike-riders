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9144000"/>
  <p:notesSz cx="6797675" cy="98742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2" roundtripDataSignature="AMtx7mh53+tYqfPypSffB7kqL7YHXIc7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33150" y="740550"/>
            <a:ext cx="4532000" cy="3702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133150" y="740550"/>
            <a:ext cx="4532000" cy="3702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1133150" y="740550"/>
            <a:ext cx="4532000" cy="3702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/>
          <p:nvPr>
            <p:ph idx="2" type="sldImg"/>
          </p:nvPr>
        </p:nvSpPr>
        <p:spPr>
          <a:xfrm>
            <a:off x="1133150" y="740550"/>
            <a:ext cx="4532000" cy="3702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33150" y="740550"/>
            <a:ext cx="4532000" cy="3702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aea0e1ecf0_0_5:notes"/>
          <p:cNvSpPr/>
          <p:nvPr>
            <p:ph idx="2" type="sldImg"/>
          </p:nvPr>
        </p:nvSpPr>
        <p:spPr>
          <a:xfrm>
            <a:off x="1133150" y="740550"/>
            <a:ext cx="4532100" cy="370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aea0e1ecf0_0_5:notes"/>
          <p:cNvSpPr txBox="1"/>
          <p:nvPr>
            <p:ph idx="1" type="body"/>
          </p:nvPr>
        </p:nvSpPr>
        <p:spPr>
          <a:xfrm>
            <a:off x="679750" y="4690250"/>
            <a:ext cx="5438100" cy="44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0400" y="4690800"/>
            <a:ext cx="5436000" cy="444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:notes"/>
          <p:cNvSpPr/>
          <p:nvPr/>
        </p:nvSpPr>
        <p:spPr>
          <a:xfrm>
            <a:off x="3849840" y="9378360"/>
            <a:ext cx="2944080" cy="492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33150" y="740550"/>
            <a:ext cx="4532000" cy="3702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0400" y="4690800"/>
            <a:ext cx="5436000" cy="444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:notes"/>
          <p:cNvSpPr/>
          <p:nvPr/>
        </p:nvSpPr>
        <p:spPr>
          <a:xfrm>
            <a:off x="3849840" y="9378360"/>
            <a:ext cx="2944080" cy="492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33150" y="740550"/>
            <a:ext cx="4532000" cy="3702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ade310c165_0_2:notes"/>
          <p:cNvSpPr/>
          <p:nvPr>
            <p:ph idx="2" type="sldImg"/>
          </p:nvPr>
        </p:nvSpPr>
        <p:spPr>
          <a:xfrm>
            <a:off x="1133150" y="740550"/>
            <a:ext cx="4532100" cy="370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ade310c165_0_2:notes"/>
          <p:cNvSpPr txBox="1"/>
          <p:nvPr>
            <p:ph idx="1" type="body"/>
          </p:nvPr>
        </p:nvSpPr>
        <p:spPr>
          <a:xfrm>
            <a:off x="679750" y="4690250"/>
            <a:ext cx="5438100" cy="44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ade310c165_0_9:notes"/>
          <p:cNvSpPr/>
          <p:nvPr>
            <p:ph idx="2" type="sldImg"/>
          </p:nvPr>
        </p:nvSpPr>
        <p:spPr>
          <a:xfrm>
            <a:off x="1133150" y="740550"/>
            <a:ext cx="4532100" cy="370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ade310c165_0_9:notes"/>
          <p:cNvSpPr txBox="1"/>
          <p:nvPr>
            <p:ph idx="1" type="body"/>
          </p:nvPr>
        </p:nvSpPr>
        <p:spPr>
          <a:xfrm>
            <a:off x="679750" y="4690250"/>
            <a:ext cx="5438100" cy="44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0400" y="4690800"/>
            <a:ext cx="5436000" cy="444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:notes"/>
          <p:cNvSpPr/>
          <p:nvPr/>
        </p:nvSpPr>
        <p:spPr>
          <a:xfrm>
            <a:off x="3849840" y="9378360"/>
            <a:ext cx="2944080" cy="492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133150" y="740550"/>
            <a:ext cx="4532000" cy="3702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adf0de0db5_0_1:notes"/>
          <p:cNvSpPr/>
          <p:nvPr>
            <p:ph idx="2" type="sldImg"/>
          </p:nvPr>
        </p:nvSpPr>
        <p:spPr>
          <a:xfrm>
            <a:off x="1133150" y="740550"/>
            <a:ext cx="4532100" cy="370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adf0de0db5_0_1:notes"/>
          <p:cNvSpPr txBox="1"/>
          <p:nvPr>
            <p:ph idx="1" type="body"/>
          </p:nvPr>
        </p:nvSpPr>
        <p:spPr>
          <a:xfrm>
            <a:off x="679750" y="4690250"/>
            <a:ext cx="5438100" cy="44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adf0de0db5_0_6:notes"/>
          <p:cNvSpPr/>
          <p:nvPr>
            <p:ph idx="2" type="sldImg"/>
          </p:nvPr>
        </p:nvSpPr>
        <p:spPr>
          <a:xfrm>
            <a:off x="1133150" y="740550"/>
            <a:ext cx="4532100" cy="370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adf0de0db5_0_6:notes"/>
          <p:cNvSpPr txBox="1"/>
          <p:nvPr>
            <p:ph idx="1" type="body"/>
          </p:nvPr>
        </p:nvSpPr>
        <p:spPr>
          <a:xfrm>
            <a:off x="679750" y="4690250"/>
            <a:ext cx="5438100" cy="44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adf0de0db5_0_11:notes"/>
          <p:cNvSpPr/>
          <p:nvPr>
            <p:ph idx="2" type="sldImg"/>
          </p:nvPr>
        </p:nvSpPr>
        <p:spPr>
          <a:xfrm>
            <a:off x="1133150" y="740550"/>
            <a:ext cx="4532100" cy="370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adf0de0db5_0_11:notes"/>
          <p:cNvSpPr txBox="1"/>
          <p:nvPr>
            <p:ph idx="1" type="body"/>
          </p:nvPr>
        </p:nvSpPr>
        <p:spPr>
          <a:xfrm>
            <a:off x="679750" y="4690250"/>
            <a:ext cx="5438100" cy="44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adf0de0db5_0_16:notes"/>
          <p:cNvSpPr/>
          <p:nvPr>
            <p:ph idx="2" type="sldImg"/>
          </p:nvPr>
        </p:nvSpPr>
        <p:spPr>
          <a:xfrm>
            <a:off x="1133150" y="740550"/>
            <a:ext cx="4532100" cy="370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adf0de0db5_0_16:notes"/>
          <p:cNvSpPr txBox="1"/>
          <p:nvPr>
            <p:ph idx="1" type="body"/>
          </p:nvPr>
        </p:nvSpPr>
        <p:spPr>
          <a:xfrm>
            <a:off x="679750" y="4690250"/>
            <a:ext cx="5438100" cy="44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adf0de0db5_0_21:notes"/>
          <p:cNvSpPr/>
          <p:nvPr>
            <p:ph idx="2" type="sldImg"/>
          </p:nvPr>
        </p:nvSpPr>
        <p:spPr>
          <a:xfrm>
            <a:off x="1133150" y="740550"/>
            <a:ext cx="4532100" cy="370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adf0de0db5_0_21:notes"/>
          <p:cNvSpPr txBox="1"/>
          <p:nvPr>
            <p:ph idx="1" type="body"/>
          </p:nvPr>
        </p:nvSpPr>
        <p:spPr>
          <a:xfrm>
            <a:off x="679750" y="4690250"/>
            <a:ext cx="5438100" cy="44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adf0de0db5_0_27:notes"/>
          <p:cNvSpPr/>
          <p:nvPr>
            <p:ph idx="2" type="sldImg"/>
          </p:nvPr>
        </p:nvSpPr>
        <p:spPr>
          <a:xfrm>
            <a:off x="1133150" y="740550"/>
            <a:ext cx="4532100" cy="3702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adf0de0db5_0_27:notes"/>
          <p:cNvSpPr txBox="1"/>
          <p:nvPr>
            <p:ph idx="1" type="body"/>
          </p:nvPr>
        </p:nvSpPr>
        <p:spPr>
          <a:xfrm>
            <a:off x="679750" y="4690250"/>
            <a:ext cx="5438100" cy="44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33150" y="740550"/>
            <a:ext cx="4532000" cy="3702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2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3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4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2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1" name="Google Shape;6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3.xml"/><Relationship Id="rId10" Type="http://schemas.openxmlformats.org/officeDocument/2006/relationships/slideLayout" Target="../slideLayouts/slideLayout2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5.xml"/><Relationship Id="rId12" Type="http://schemas.openxmlformats.org/officeDocument/2006/relationships/slideLayout" Target="../slideLayouts/slideLayout4.xml"/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slideLayout" Target="../slideLayouts/slideLayout1.xml"/><Relationship Id="rId15" Type="http://schemas.openxmlformats.org/officeDocument/2006/relationships/slideLayout" Target="../slideLayouts/slideLayout7.xml"/><Relationship Id="rId14" Type="http://schemas.openxmlformats.org/officeDocument/2006/relationships/slideLayout" Target="../slideLayouts/slideLayout6.xml"/><Relationship Id="rId17" Type="http://schemas.openxmlformats.org/officeDocument/2006/relationships/slideLayout" Target="../slideLayouts/slideLayout9.xml"/><Relationship Id="rId16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19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18" Type="http://schemas.openxmlformats.org/officeDocument/2006/relationships/slideLayout" Target="../slideLayouts/slideLayout10.xml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35280"/>
            <a:ext cx="9141840" cy="693216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9"/>
          <p:cNvSpPr/>
          <p:nvPr/>
        </p:nvSpPr>
        <p:spPr>
          <a:xfrm>
            <a:off x="0" y="152280"/>
            <a:ext cx="1445760" cy="1198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9640" y="138600"/>
            <a:ext cx="866520" cy="969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2520" y="103320"/>
            <a:ext cx="1618920" cy="988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3600" y="106560"/>
            <a:ext cx="1617840" cy="9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3800" y="117000"/>
            <a:ext cx="1617840" cy="987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000" y="111960"/>
            <a:ext cx="1617840" cy="987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19320" y="102240"/>
            <a:ext cx="1617840" cy="987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30120" y="1600200"/>
            <a:ext cx="1598040" cy="5124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9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9"/>
    <p:sldLayoutId id="2147483650" r:id="rId10"/>
    <p:sldLayoutId id="2147483651" r:id="rId11"/>
    <p:sldLayoutId id="2147483652" r:id="rId12"/>
    <p:sldLayoutId id="2147483653" r:id="rId13"/>
    <p:sldLayoutId id="2147483654" r:id="rId14"/>
    <p:sldLayoutId id="2147483655" r:id="rId15"/>
    <p:sldLayoutId id="2147483656" r:id="rId16"/>
    <p:sldLayoutId id="2147483657" r:id="rId17"/>
    <p:sldLayoutId id="2147483658" r:id="rId18"/>
    <p:sldLayoutId id="2147483659" r:id="rId19"/>
    <p:sldLayoutId id="2147483660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Relationship Id="rId4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/>
          <p:nvPr/>
        </p:nvSpPr>
        <p:spPr>
          <a:xfrm>
            <a:off x="267480" y="1891800"/>
            <a:ext cx="829872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36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Final Mini Project Demonstration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Subject CODE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11480" y="3528000"/>
            <a:ext cx="8456040" cy="2103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300" u="none" cap="none" strike="noStrik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  : He</a:t>
            </a:r>
            <a:r>
              <a:rPr lang="en-IN" sz="23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lmet Detection of Bike Riders</a:t>
            </a:r>
            <a:endParaRPr b="0" i="0" sz="23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300" u="none" cap="none" strike="noStrik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	</a:t>
            </a:r>
            <a:r>
              <a:rPr lang="en-IN" sz="23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</a:t>
            </a:r>
            <a:r>
              <a:rPr b="0" i="0" lang="en-IN" sz="2300" u="none" cap="none" strike="noStrik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-IN" sz="23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Prof.Sangeetha.V</a:t>
            </a:r>
            <a:r>
              <a:rPr b="0" i="0" lang="en-IN" sz="2300" u="none" cap="none" strike="noStrik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300" u="none" cap="none" strike="noStrik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	   : C</a:t>
            </a:r>
            <a:r>
              <a:rPr lang="en-IN" sz="23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.R.Greeshma Reddy</a:t>
            </a:r>
            <a:endParaRPr sz="23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3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					(PES1201800196)</a:t>
            </a:r>
            <a:endParaRPr sz="23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3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					Vulli Varsha</a:t>
            </a:r>
            <a:endParaRPr sz="23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3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					(PES1201800376)</a:t>
            </a:r>
            <a:endParaRPr sz="23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/>
          <p:nvPr/>
        </p:nvSpPr>
        <p:spPr>
          <a:xfrm>
            <a:off x="1523880" y="1581120"/>
            <a:ext cx="7617960" cy="342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2666880" y="1143000"/>
            <a:ext cx="6474960" cy="45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Abstract and Scope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1839960" y="1339200"/>
            <a:ext cx="7372440" cy="472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latin typeface="Trebuchet MS"/>
                <a:ea typeface="Trebuchet MS"/>
                <a:cs typeface="Trebuchet MS"/>
                <a:sym typeface="Trebuchet MS"/>
              </a:rPr>
              <a:t>Our project detects the people who 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latin typeface="Trebuchet MS"/>
                <a:ea typeface="Trebuchet MS"/>
                <a:cs typeface="Trebuchet MS"/>
                <a:sym typeface="Trebuchet MS"/>
              </a:rPr>
              <a:t>are wearing and not wearing helmet 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latin typeface="Trebuchet MS"/>
                <a:ea typeface="Trebuchet MS"/>
                <a:cs typeface="Trebuchet MS"/>
                <a:sym typeface="Trebuchet MS"/>
              </a:rPr>
              <a:t>during their bike ride when passed a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latin typeface="Trebuchet MS"/>
                <a:ea typeface="Trebuchet MS"/>
                <a:cs typeface="Trebuchet MS"/>
                <a:sym typeface="Trebuchet MS"/>
              </a:rPr>
              <a:t>real time application as input to our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latin typeface="Trebuchet MS"/>
                <a:ea typeface="Trebuchet MS"/>
                <a:cs typeface="Trebuchet MS"/>
                <a:sym typeface="Trebuchet MS"/>
              </a:rPr>
              <a:t>model.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1523880" y="1581120"/>
            <a:ext cx="7617960" cy="342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2666880" y="1143000"/>
            <a:ext cx="6474960" cy="45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Literature Survey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81575" y="1727475"/>
            <a:ext cx="7372500" cy="47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just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 went through 3 reference papers regarding Helmet Detection namely:</a:t>
            </a:r>
            <a:endParaRPr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just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Detection of Motorcyclists without Helmet in Videos using Convolutional Neural Network by C. Vishnu, Dinesh Singh, C. Krishna Mohan and Sobhan Babu, IIT Hyderabad.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Detecting motorcycle helmet use with deep learning  by Felix Wilhelm Siebert, Hanhe Lin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 Improved YOLOv3 for Vehicle Detection by Jun Sang , Zhongyuan Wu, Pei Guo, Haibo Hu, Hong Xiang, Qian Zhang and Bin Cai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IN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From these papers we learned the following things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: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just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AutoNum type="arabicPeriod"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 found that Yolov3 model is best for training the dataset as it gives more accuracy compared to models like RetinaNet, R-CNN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AutoNum type="arabicPeriod"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Yolov3 model is CNN which is implemented with 24 convolution layers and 2 fully connected layers.</a:t>
            </a:r>
            <a:endParaRPr sz="2400">
              <a:solidFill>
                <a:schemeClr val="hlink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1523880" y="1581120"/>
            <a:ext cx="7617960" cy="3456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1371600" y="1143000"/>
            <a:ext cx="77702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Description/UI Design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575" y="2821630"/>
            <a:ext cx="28575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/>
          <p:cNvSpPr txBox="1"/>
          <p:nvPr/>
        </p:nvSpPr>
        <p:spPr>
          <a:xfrm>
            <a:off x="397575" y="4591875"/>
            <a:ext cx="28575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/>
              <a:t>Data Collection</a:t>
            </a:r>
            <a:endParaRPr sz="2800"/>
          </a:p>
        </p:txBody>
      </p:sp>
      <p:cxnSp>
        <p:nvCxnSpPr>
          <p:cNvPr id="91" name="Google Shape;91;p4"/>
          <p:cNvCxnSpPr/>
          <p:nvPr/>
        </p:nvCxnSpPr>
        <p:spPr>
          <a:xfrm>
            <a:off x="3578075" y="3657600"/>
            <a:ext cx="137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2" name="Google Shape;9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2675" y="2821625"/>
            <a:ext cx="3277775" cy="16001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 txBox="1"/>
          <p:nvPr/>
        </p:nvSpPr>
        <p:spPr>
          <a:xfrm>
            <a:off x="5387000" y="4750900"/>
            <a:ext cx="31635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/>
              <a:t>Labelling of images to get annotations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aea0e1ecf0_0_5"/>
          <p:cNvSpPr txBox="1"/>
          <p:nvPr/>
        </p:nvSpPr>
        <p:spPr>
          <a:xfrm>
            <a:off x="596350" y="2564300"/>
            <a:ext cx="3160500" cy="23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cxnSp>
        <p:nvCxnSpPr>
          <p:cNvPr id="99" name="Google Shape;99;gaea0e1ecf0_0_5"/>
          <p:cNvCxnSpPr/>
          <p:nvPr/>
        </p:nvCxnSpPr>
        <p:spPr>
          <a:xfrm>
            <a:off x="3995550" y="3409050"/>
            <a:ext cx="1510800" cy="3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" name="Google Shape;100;gaea0e1ecf0_0_5"/>
          <p:cNvSpPr txBox="1"/>
          <p:nvPr/>
        </p:nvSpPr>
        <p:spPr>
          <a:xfrm>
            <a:off x="5923725" y="2564300"/>
            <a:ext cx="2703300" cy="23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01" name="Google Shape;101;gaea0e1ecf0_0_5"/>
          <p:cNvSpPr/>
          <p:nvPr/>
        </p:nvSpPr>
        <p:spPr>
          <a:xfrm>
            <a:off x="775275" y="2524500"/>
            <a:ext cx="3061200" cy="180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solidFill>
                  <a:schemeClr val="dk1"/>
                </a:solidFill>
              </a:rPr>
              <a:t>Training the YoloV3 model to get the updated weights with created dataset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aea0e1ecf0_0_5"/>
          <p:cNvSpPr/>
          <p:nvPr/>
        </p:nvSpPr>
        <p:spPr>
          <a:xfrm>
            <a:off x="5784575" y="2564300"/>
            <a:ext cx="2544300" cy="196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solidFill>
                  <a:schemeClr val="dk1"/>
                </a:solidFill>
              </a:rPr>
              <a:t>Testing the model to see the model is making correct predictions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/>
          <p:nvPr/>
        </p:nvSpPr>
        <p:spPr>
          <a:xfrm>
            <a:off x="1523880" y="1581120"/>
            <a:ext cx="7617960" cy="3456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1371600" y="1143000"/>
            <a:ext cx="77702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Technologies Used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1181800" y="2345675"/>
            <a:ext cx="5891100" cy="28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IN" sz="2000"/>
              <a:t>Python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IN" sz="2000"/>
              <a:t>OpenCv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IN" sz="2000"/>
              <a:t>YoloV3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1523880" y="1581120"/>
            <a:ext cx="7617960" cy="3456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1371600" y="1143000"/>
            <a:ext cx="77702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626700" y="2309875"/>
            <a:ext cx="6660900" cy="42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IN" sz="2600"/>
              <a:t>As we are using an already trained model called yolov3,we were supposed to made some changes and again train the yolov3 model and update weights as we are trying to predict a custom object but yolov3 model is trained with around 80 different objects.</a:t>
            </a:r>
            <a:endParaRPr sz="2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ade310c165_0_2"/>
          <p:cNvSpPr txBox="1"/>
          <p:nvPr/>
        </p:nvSpPr>
        <p:spPr>
          <a:xfrm>
            <a:off x="805775" y="1790600"/>
            <a:ext cx="6482100" cy="43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IN" sz="2300"/>
              <a:t>To train our model we first </a:t>
            </a:r>
            <a:r>
              <a:rPr lang="en-IN" sz="2300"/>
              <a:t>downloaded</a:t>
            </a:r>
            <a:r>
              <a:rPr lang="en-IN" sz="2300"/>
              <a:t> around 1500 images from the internet.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IN" sz="2300"/>
              <a:t>Then we made a bounding boxes to all the images and stored the annotations of each image.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IN" sz="2300"/>
              <a:t>To get the model well trained we made a copy of yolov3 configurations file and made changes related to classes and filters as our model is going to predict only 2 classes.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IN" sz="2300"/>
              <a:t>Now we trained the model with a darknet detector and the model is trained for around 4000 iterations.</a:t>
            </a:r>
            <a:endParaRPr sz="2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ade310c165_0_9"/>
          <p:cNvSpPr txBox="1"/>
          <p:nvPr/>
        </p:nvSpPr>
        <p:spPr>
          <a:xfrm>
            <a:off x="590900" y="1933850"/>
            <a:ext cx="64104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IN" sz="2500"/>
              <a:t>After the training is done we got an updated weights file.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IN" sz="2500"/>
              <a:t>Then using this updated weights file, updated yolov3 configurations file and opencv we were able to predict whether people are wearing helmet or not during their bike ride.</a:t>
            </a:r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1523880" y="1581120"/>
            <a:ext cx="7617900" cy="345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1371600" y="1143000"/>
            <a:ext cx="7770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Demo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874650" y="2723300"/>
            <a:ext cx="66591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/>
              <a:t>Presenting you with result of our helmet detection model using various images</a:t>
            </a:r>
            <a:endParaRPr sz="3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gadf0de0db5_0_1"/>
          <p:cNvPicPr preferRelativeResize="0"/>
          <p:nvPr/>
        </p:nvPicPr>
        <p:blipFill rotWithShape="1">
          <a:blip r:embed="rId3">
            <a:alphaModFix/>
          </a:blip>
          <a:srcRect b="78277" l="0" r="79010" t="0"/>
          <a:stretch/>
        </p:blipFill>
        <p:spPr>
          <a:xfrm>
            <a:off x="1981225" y="3213650"/>
            <a:ext cx="4041901" cy="2352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adf0de0db5_0_1"/>
          <p:cNvSpPr txBox="1"/>
          <p:nvPr/>
        </p:nvSpPr>
        <p:spPr>
          <a:xfrm>
            <a:off x="496950" y="1689650"/>
            <a:ext cx="81102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/>
              <a:t>Results for predicting all the people with or without helmet in the image correctly :</a:t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adf0de0db5_0_6"/>
          <p:cNvPicPr preferRelativeResize="0"/>
          <p:nvPr/>
        </p:nvPicPr>
        <p:blipFill rotWithShape="1">
          <a:blip r:embed="rId3">
            <a:alphaModFix/>
          </a:blip>
          <a:srcRect b="79076" l="0" r="78785" t="0"/>
          <a:stretch/>
        </p:blipFill>
        <p:spPr>
          <a:xfrm>
            <a:off x="112650" y="1524000"/>
            <a:ext cx="4101526" cy="251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adf0de0db5_0_6"/>
          <p:cNvPicPr preferRelativeResize="0"/>
          <p:nvPr/>
        </p:nvPicPr>
        <p:blipFill rotWithShape="1">
          <a:blip r:embed="rId4">
            <a:alphaModFix/>
          </a:blip>
          <a:srcRect b="74474" l="0" r="82088" t="0"/>
          <a:stretch/>
        </p:blipFill>
        <p:spPr>
          <a:xfrm>
            <a:off x="4406350" y="3511850"/>
            <a:ext cx="3703974" cy="296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adf0de0db5_0_11"/>
          <p:cNvSpPr txBox="1"/>
          <p:nvPr/>
        </p:nvSpPr>
        <p:spPr>
          <a:xfrm>
            <a:off x="675850" y="1789050"/>
            <a:ext cx="73350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</a:rPr>
              <a:t>Results for predicting almost all the people with or without helmet in the image correctly :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154" name="Google Shape;154;gadf0de0db5_0_11"/>
          <p:cNvPicPr preferRelativeResize="0"/>
          <p:nvPr/>
        </p:nvPicPr>
        <p:blipFill rotWithShape="1">
          <a:blip r:embed="rId3">
            <a:alphaModFix/>
          </a:blip>
          <a:srcRect b="76881" l="0" r="79965" t="0"/>
          <a:stretch/>
        </p:blipFill>
        <p:spPr>
          <a:xfrm>
            <a:off x="2080600" y="3154100"/>
            <a:ext cx="4359974" cy="283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gadf0de0db5_0_16"/>
          <p:cNvPicPr preferRelativeResize="0"/>
          <p:nvPr/>
        </p:nvPicPr>
        <p:blipFill rotWithShape="1">
          <a:blip r:embed="rId3">
            <a:alphaModFix/>
          </a:blip>
          <a:srcRect b="54689" l="0" r="67765" t="0"/>
          <a:stretch/>
        </p:blipFill>
        <p:spPr>
          <a:xfrm>
            <a:off x="291550" y="1484250"/>
            <a:ext cx="3584726" cy="283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adf0de0db5_0_16"/>
          <p:cNvPicPr preferRelativeResize="0"/>
          <p:nvPr/>
        </p:nvPicPr>
        <p:blipFill rotWithShape="1">
          <a:blip r:embed="rId4">
            <a:alphaModFix/>
          </a:blip>
          <a:srcRect b="76263" l="0" r="80641" t="0"/>
          <a:stretch/>
        </p:blipFill>
        <p:spPr>
          <a:xfrm>
            <a:off x="4446125" y="3571475"/>
            <a:ext cx="3929350" cy="271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adf0de0db5_0_21"/>
          <p:cNvSpPr txBox="1"/>
          <p:nvPr/>
        </p:nvSpPr>
        <p:spPr>
          <a:xfrm>
            <a:off x="735500" y="1729400"/>
            <a:ext cx="7514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IN" sz="1900"/>
              <a:t>Our model is detecting only the people who are near to the camera if there are large number of persons present in a image</a:t>
            </a:r>
            <a:endParaRPr sz="1900"/>
          </a:p>
        </p:txBody>
      </p:sp>
      <p:pic>
        <p:nvPicPr>
          <p:cNvPr id="166" name="Google Shape;166;gadf0de0db5_0_21"/>
          <p:cNvPicPr preferRelativeResize="0"/>
          <p:nvPr/>
        </p:nvPicPr>
        <p:blipFill rotWithShape="1">
          <a:blip r:embed="rId3">
            <a:alphaModFix/>
          </a:blip>
          <a:srcRect b="71355" l="0" r="73018" t="0"/>
          <a:stretch/>
        </p:blipFill>
        <p:spPr>
          <a:xfrm>
            <a:off x="112650" y="2816075"/>
            <a:ext cx="4320198" cy="31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adf0de0db5_0_21"/>
          <p:cNvPicPr preferRelativeResize="0"/>
          <p:nvPr/>
        </p:nvPicPr>
        <p:blipFill rotWithShape="1">
          <a:blip r:embed="rId4">
            <a:alphaModFix/>
          </a:blip>
          <a:srcRect b="69256" l="0" r="72781" t="0"/>
          <a:stretch/>
        </p:blipFill>
        <p:spPr>
          <a:xfrm>
            <a:off x="4585250" y="2796200"/>
            <a:ext cx="4453174" cy="282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adf0de0db5_0_27"/>
          <p:cNvSpPr txBox="1"/>
          <p:nvPr/>
        </p:nvSpPr>
        <p:spPr>
          <a:xfrm>
            <a:off x="496925" y="1808900"/>
            <a:ext cx="7374900" cy="3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IN" sz="2500"/>
              <a:t>Our model was not detecting all the people if more number persons were present in the image due to lack of more such images in the trained dataset.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IN" sz="2500"/>
              <a:t>But our model is correctly predicting whether a person is wearing helmet or not if the person if the image is detected.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IN" sz="2500"/>
              <a:t>Due to inconsistency present in our dataset our model came up with an accuracy of 89%.</a:t>
            </a:r>
            <a:endParaRPr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/>
          <p:nvPr/>
        </p:nvSpPr>
        <p:spPr>
          <a:xfrm>
            <a:off x="2847600" y="3352680"/>
            <a:ext cx="292176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0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