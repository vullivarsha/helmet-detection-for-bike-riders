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797675" cy="98742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932040" y="739800"/>
            <a:ext cx="4933800" cy="3701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0400" y="4690800"/>
            <a:ext cx="5436360" cy="44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:notes"/>
          <p:cNvSpPr/>
          <p:nvPr/>
        </p:nvSpPr>
        <p:spPr>
          <a:xfrm>
            <a:off x="3849840" y="9378360"/>
            <a:ext cx="2944800" cy="492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932040" y="739800"/>
            <a:ext cx="4933800" cy="3701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0400" y="4690800"/>
            <a:ext cx="5436360" cy="44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:notes"/>
          <p:cNvSpPr/>
          <p:nvPr/>
        </p:nvSpPr>
        <p:spPr>
          <a:xfrm>
            <a:off x="3849840" y="9378360"/>
            <a:ext cx="2944800" cy="492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932040" y="739800"/>
            <a:ext cx="4933800" cy="3701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0400" y="4690800"/>
            <a:ext cx="5436360" cy="44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:notes"/>
          <p:cNvSpPr/>
          <p:nvPr/>
        </p:nvSpPr>
        <p:spPr>
          <a:xfrm>
            <a:off x="3849840" y="9378360"/>
            <a:ext cx="2944800" cy="492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932040" y="739800"/>
            <a:ext cx="4933800" cy="3701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0400" y="4690800"/>
            <a:ext cx="5436360" cy="44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:notes"/>
          <p:cNvSpPr/>
          <p:nvPr/>
        </p:nvSpPr>
        <p:spPr>
          <a:xfrm>
            <a:off x="3849840" y="9378360"/>
            <a:ext cx="2944800" cy="492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932040" y="739800"/>
            <a:ext cx="4933800" cy="3701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0400" y="4690800"/>
            <a:ext cx="5436360" cy="44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:notes"/>
          <p:cNvSpPr/>
          <p:nvPr/>
        </p:nvSpPr>
        <p:spPr>
          <a:xfrm>
            <a:off x="3849840" y="9378360"/>
            <a:ext cx="2944800" cy="492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3.xml"/><Relationship Id="rId10" Type="http://schemas.openxmlformats.org/officeDocument/2006/relationships/slideLayout" Target="../slideLayouts/slideLayout2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5.xml"/><Relationship Id="rId12" Type="http://schemas.openxmlformats.org/officeDocument/2006/relationships/slideLayout" Target="../slideLayouts/slideLayout4.xml"/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slideLayout" Target="../slideLayouts/slideLayout1.xml"/><Relationship Id="rId15" Type="http://schemas.openxmlformats.org/officeDocument/2006/relationships/slideLayout" Target="../slideLayouts/slideLayout7.xml"/><Relationship Id="rId14" Type="http://schemas.openxmlformats.org/officeDocument/2006/relationships/slideLayout" Target="../slideLayouts/slideLayout6.xml"/><Relationship Id="rId17" Type="http://schemas.openxmlformats.org/officeDocument/2006/relationships/slideLayout" Target="../slideLayouts/slideLayout9.xml"/><Relationship Id="rId16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19" Type="http://schemas.openxmlformats.org/officeDocument/2006/relationships/slideLayout" Target="../slideLayouts/slideLayout11.xml"/><Relationship Id="rId6" Type="http://schemas.openxmlformats.org/officeDocument/2006/relationships/image" Target="../media/image1.png"/><Relationship Id="rId18" Type="http://schemas.openxmlformats.org/officeDocument/2006/relationships/slideLayout" Target="../slideLayouts/slideLayout10.xml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5" Type="http://schemas.openxmlformats.org/officeDocument/2006/relationships/image" Target="../media/image2.png"/><Relationship Id="rId19" Type="http://schemas.openxmlformats.org/officeDocument/2006/relationships/slideLayout" Target="../slideLayouts/slideLayout23.xml"/><Relationship Id="rId6" Type="http://schemas.openxmlformats.org/officeDocument/2006/relationships/image" Target="../media/image1.png"/><Relationship Id="rId18" Type="http://schemas.openxmlformats.org/officeDocument/2006/relationships/slideLayout" Target="../slideLayouts/slideLayout22.xml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35280"/>
            <a:ext cx="9142200" cy="6932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0" y="152280"/>
            <a:ext cx="1446120" cy="11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9640" y="138600"/>
            <a:ext cx="866880" cy="97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1"/>
          <p:cNvGrpSpPr/>
          <p:nvPr/>
        </p:nvGrpSpPr>
        <p:grpSpPr>
          <a:xfrm>
            <a:off x="1219320" y="102240"/>
            <a:ext cx="7922880" cy="1002960"/>
            <a:chOff x="1219320" y="102240"/>
            <a:chExt cx="7922880" cy="1002960"/>
          </a:xfrm>
        </p:grpSpPr>
        <p:pic>
          <p:nvPicPr>
            <p:cNvPr id="14" name="Google Shape;14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2520" y="103320"/>
              <a:ext cx="1619280" cy="988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3600" y="106560"/>
              <a:ext cx="1618200" cy="986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23800" y="117000"/>
              <a:ext cx="1618200" cy="98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24000" y="111960"/>
              <a:ext cx="1618200" cy="98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19320" y="102240"/>
              <a:ext cx="1618200" cy="988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" name="Google Shape;1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0120" y="1600200"/>
            <a:ext cx="1598400" cy="5125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9"/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35280"/>
            <a:ext cx="9142200" cy="69325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0" y="152280"/>
            <a:ext cx="1446120" cy="11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9640" y="138600"/>
            <a:ext cx="866880" cy="97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14"/>
          <p:cNvGrpSpPr/>
          <p:nvPr/>
        </p:nvGrpSpPr>
        <p:grpSpPr>
          <a:xfrm>
            <a:off x="1219320" y="102240"/>
            <a:ext cx="7922880" cy="1002960"/>
            <a:chOff x="1219320" y="102240"/>
            <a:chExt cx="7922880" cy="1002960"/>
          </a:xfrm>
        </p:grpSpPr>
        <p:pic>
          <p:nvPicPr>
            <p:cNvPr id="75" name="Google Shape;7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2520" y="103320"/>
              <a:ext cx="1619280" cy="988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3600" y="106560"/>
              <a:ext cx="1618200" cy="986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23800" y="117000"/>
              <a:ext cx="1618200" cy="98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24000" y="111960"/>
              <a:ext cx="1618200" cy="98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19320" y="102240"/>
              <a:ext cx="1618200" cy="988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" name="Google Shape;8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0120" y="1600200"/>
            <a:ext cx="1598400" cy="51253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/>
          <p:nvPr/>
        </p:nvSpPr>
        <p:spPr>
          <a:xfrm>
            <a:off x="1139760" y="2286000"/>
            <a:ext cx="555624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0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Mini-Project </a:t>
            </a:r>
            <a:r>
              <a:rPr lang="en-IN" sz="40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7"/>
          <p:cNvSpPr/>
          <p:nvPr/>
        </p:nvSpPr>
        <p:spPr>
          <a:xfrm>
            <a:off x="380880" y="3276720"/>
            <a:ext cx="8456400" cy="283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	:      </a:t>
            </a:r>
            <a:r>
              <a:rPr lang="en-IN" sz="2000">
                <a:latin typeface="Trebuchet MS"/>
                <a:ea typeface="Trebuchet MS"/>
                <a:cs typeface="Trebuchet MS"/>
                <a:sym typeface="Trebuchet MS"/>
              </a:rPr>
              <a:t>Helmet Detection</a:t>
            </a:r>
            <a:r>
              <a:rPr b="0" i="0" lang="en-I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of Bike Riders           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	:      </a:t>
            </a:r>
            <a:r>
              <a:rPr lang="en-IN" sz="2000">
                <a:latin typeface="Trebuchet MS"/>
                <a:ea typeface="Trebuchet MS"/>
                <a:cs typeface="Trebuchet MS"/>
                <a:sym typeface="Trebuchet MS"/>
              </a:rPr>
              <a:t>Prof. Sangeeta V I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	:  </a:t>
            </a:r>
            <a:r>
              <a:rPr lang="en-IN" sz="2000">
                <a:latin typeface="Trebuchet MS"/>
                <a:ea typeface="Trebuchet MS"/>
                <a:cs typeface="Trebuchet MS"/>
                <a:sym typeface="Trebuchet MS"/>
              </a:rPr>
              <a:t>    C R Greeshma Reddy - PES1201800196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latin typeface="Trebuchet MS"/>
                <a:ea typeface="Trebuchet MS"/>
                <a:cs typeface="Trebuchet MS"/>
                <a:sym typeface="Trebuchet MS"/>
              </a:rPr>
              <a:t>					 Vulli Varsha - PES1201800376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Semester          :      </a:t>
            </a:r>
            <a:r>
              <a:rPr lang="en-IN" sz="2000">
                <a:latin typeface="Trebuchet MS"/>
                <a:ea typeface="Trebuchet MS"/>
                <a:cs typeface="Trebuchet MS"/>
                <a:sym typeface="Trebuchet MS"/>
              </a:rPr>
              <a:t>5th Semester</a:t>
            </a:r>
            <a:r>
              <a:rPr b="0" i="0" lang="en-I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/>
          <p:nvPr/>
        </p:nvSpPr>
        <p:spPr>
          <a:xfrm>
            <a:off x="2666880" y="1143000"/>
            <a:ext cx="647532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0920" lvl="0" marL="34272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533520" y="1828800"/>
            <a:ext cx="8456400" cy="47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280" lvl="0" marL="6858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 Study/Related Work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280" lvl="0" marL="6858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Solution/Methodology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280" lvl="0" marL="6858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Software/Hardware/Data Requirements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280" lvl="0" marL="6858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279" lvl="0" marL="6858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Timeline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272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272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272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272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272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272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2720" marR="0" rtl="0" algn="just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9"/>
          <p:cNvSpPr/>
          <p:nvPr/>
        </p:nvSpPr>
        <p:spPr>
          <a:xfrm>
            <a:off x="2666880" y="1143000"/>
            <a:ext cx="647532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9"/>
          <p:cNvSpPr/>
          <p:nvPr/>
        </p:nvSpPr>
        <p:spPr>
          <a:xfrm>
            <a:off x="533520" y="1828800"/>
            <a:ext cx="8456400" cy="47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IN" sz="2400"/>
              <a:t>    </a:t>
            </a:r>
            <a:r>
              <a:rPr lang="en-IN" sz="2400" u="sng"/>
              <a:t>Problem Statement</a:t>
            </a:r>
            <a:r>
              <a:rPr lang="en-IN" sz="2400"/>
              <a:t>: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12599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IN" sz="2400"/>
              <a:t>To identify if the people riding bikes are wearing the helmet or not from real time photos or videos.</a:t>
            </a:r>
            <a:endParaRPr sz="2400"/>
          </a:p>
          <a:p>
            <a:pPr indent="1260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12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/>
          <p:nvPr/>
        </p:nvSpPr>
        <p:spPr>
          <a:xfrm>
            <a:off x="1371600" y="1143000"/>
            <a:ext cx="777060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Literature Survey/Related Work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533520" y="1828800"/>
            <a:ext cx="8456400" cy="47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IN" sz="2200">
                <a:latin typeface="Trebuchet MS"/>
                <a:ea typeface="Trebuchet MS"/>
                <a:cs typeface="Trebuchet MS"/>
                <a:sym typeface="Trebuchet MS"/>
              </a:rPr>
              <a:t>We went through 3 reference papers regarding Helmet Detection namely: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1800"/>
              <a:buFont typeface="Trebuchet MS"/>
              <a:buChar char="●"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Detection of Motorcyclists without Helmet in Videos using Convolutional Neural Network by C. Vishnu, Dinesh Singh, C. Krishna Mohan and Sobhan Babu, IIT Hyderabad.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●"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Detecting motorcycle helmet use with deep learning  by Felix Wilhelm Siebert, Hanhe Lin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●"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An Improved YOLOv2 for Vehicle Detection by Jun Sang , Zhongyuan Wu, Pei Guo, Haibo Hu, Hong Xiang, Qian Zhang and Bin Cai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IN" sz="2300">
                <a:latin typeface="Trebuchet MS"/>
                <a:ea typeface="Trebuchet MS"/>
                <a:cs typeface="Trebuchet MS"/>
                <a:sym typeface="Trebuchet MS"/>
              </a:rPr>
              <a:t>From these papers we learned the following things</a:t>
            </a: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 :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1800"/>
              <a:buFont typeface="Trebuchet MS"/>
              <a:buAutoNum type="arabicPeriod"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We found that Yolov2 model is best for training the dataset as it gives more accuracy compared to models like RetinaNet, R-CNN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AutoNum type="arabicPeriod"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Yolov2 model is CNN which is implemented with 24 convolution layers and 2 fully connected layers.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2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1"/>
          <p:cNvSpPr/>
          <p:nvPr/>
        </p:nvSpPr>
        <p:spPr>
          <a:xfrm>
            <a:off x="533520" y="1828800"/>
            <a:ext cx="8456400" cy="47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1000" lvl="1" marL="9144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Char char="▪"/>
            </a:pPr>
            <a:r>
              <a:rPr lang="en-IN" sz="2400"/>
              <a:t>We made the dataset with images of bike riders who are wearing helmet and not wearing helmet and made the annotations of all the images using opencv.</a:t>
            </a:r>
            <a:endParaRPr sz="2400"/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IN" sz="2400"/>
              <a:t>After creating a dataset we thought of training the transfer learning model called yolov2.</a:t>
            </a:r>
            <a:endParaRPr sz="2400"/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IN" sz="2400"/>
              <a:t>After training, we thought of passing either video as input or live video using opencv to the trained yolov2 model.</a:t>
            </a:r>
            <a:endParaRPr sz="2400"/>
          </a:p>
          <a:p>
            <a:pPr indent="-3412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1"/>
          <p:cNvSpPr/>
          <p:nvPr/>
        </p:nvSpPr>
        <p:spPr>
          <a:xfrm>
            <a:off x="2666880" y="1143000"/>
            <a:ext cx="647532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Solution/Methodology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2"/>
          <p:cNvSpPr/>
          <p:nvPr/>
        </p:nvSpPr>
        <p:spPr>
          <a:xfrm>
            <a:off x="1371600" y="1143000"/>
            <a:ext cx="777060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EF413D"/>
                </a:solidFill>
                <a:latin typeface="Trebuchet MS"/>
                <a:ea typeface="Trebuchet MS"/>
                <a:cs typeface="Trebuchet MS"/>
                <a:sym typeface="Trebuchet MS"/>
              </a:rPr>
              <a:t>Software/Hardware/Data Requirements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2"/>
          <p:cNvSpPr/>
          <p:nvPr/>
        </p:nvSpPr>
        <p:spPr>
          <a:xfrm>
            <a:off x="533520" y="1828800"/>
            <a:ext cx="8456400" cy="47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1000" lvl="0" marL="9144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Opencv</a:t>
            </a:r>
            <a:endParaRPr sz="2400"/>
          </a:p>
          <a:p>
            <a:pPr indent="-3810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Python</a:t>
            </a:r>
            <a:endParaRPr sz="2400"/>
          </a:p>
          <a:p>
            <a:pPr indent="-3810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Yolo v2</a:t>
            </a:r>
            <a:endParaRPr sz="2400"/>
          </a:p>
          <a:p>
            <a:pPr indent="-3412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3"/>
          <p:cNvSpPr/>
          <p:nvPr/>
        </p:nvSpPr>
        <p:spPr>
          <a:xfrm>
            <a:off x="1371600" y="1143000"/>
            <a:ext cx="777060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CE181E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3"/>
          <p:cNvSpPr/>
          <p:nvPr/>
        </p:nvSpPr>
        <p:spPr>
          <a:xfrm>
            <a:off x="533520" y="1828800"/>
            <a:ext cx="8456400" cy="47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1260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1 </a:t>
            </a:r>
            <a:r>
              <a:rPr lang="en-IN" sz="24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Dataset created from internet using Opencv.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2 </a:t>
            </a:r>
            <a:r>
              <a:rPr lang="en-IN" sz="24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Model for the detection of helmet.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1260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2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4"/>
          <p:cNvSpPr/>
          <p:nvPr/>
        </p:nvSpPr>
        <p:spPr>
          <a:xfrm>
            <a:off x="1371600" y="1143000"/>
            <a:ext cx="777060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Timelines &amp; Plan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4"/>
          <p:cNvSpPr/>
          <p:nvPr/>
        </p:nvSpPr>
        <p:spPr>
          <a:xfrm>
            <a:off x="533520" y="1828800"/>
            <a:ext cx="8456400" cy="47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1260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By September 25th - Creation of dataset and identification of helmet using Opencv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By  October end - Get the weights of the model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4308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By November 2nd week - Develop the model and test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3160" lvl="0" marL="107784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280" lvl="0" marL="3430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/>
          <p:nvPr/>
        </p:nvSpPr>
        <p:spPr>
          <a:xfrm>
            <a:off x="2714040" y="3352680"/>
            <a:ext cx="2772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0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